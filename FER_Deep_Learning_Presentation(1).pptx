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embeddedFontLst>
    <p:embeddedFont>
      <p:font typeface="Play"/>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7" roundtripDataSignature="AMtx7mgmJya7w67s5m1n6axyr01vfKpK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bold.fntdata"/><Relationship Id="rId25" Type="http://schemas.openxmlformats.org/officeDocument/2006/relationships/font" Target="fonts/Play-regular.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Emotion detection is important bc </a:t>
            </a:r>
            <a:r>
              <a:rPr lang="en-US"/>
              <a:t>it lets systems respond to human feelings</a:t>
            </a:r>
            <a:endParaRPr>
              <a:latin typeface="Calibri"/>
              <a:ea typeface="Calibri"/>
              <a:cs typeface="Calibri"/>
              <a:sym typeface="Calibri"/>
            </a:endParaRPr>
          </a:p>
          <a:p>
            <a:pPr indent="0" lvl="0" marL="0" rtl="0" algn="l">
              <a:spcBef>
                <a:spcPts val="0"/>
              </a:spcBef>
              <a:spcAft>
                <a:spcPts val="0"/>
              </a:spcAft>
              <a:buNone/>
            </a:pPr>
            <a:r>
              <a:rPr lang="en-US">
                <a:latin typeface="Arial"/>
                <a:ea typeface="Arial"/>
                <a:cs typeface="Arial"/>
                <a:sym typeface="Arial"/>
              </a:rPr>
              <a:t>Customer experience, mental health, telemedicine and tele-schooling</a:t>
            </a:r>
            <a:endParaRPr/>
          </a:p>
          <a:p>
            <a:pPr indent="0" lvl="0" marL="0" rtl="0" algn="l">
              <a:spcBef>
                <a:spcPts val="0"/>
              </a:spcBef>
              <a:spcAft>
                <a:spcPts val="0"/>
              </a:spcAft>
              <a:buNone/>
            </a:pPr>
            <a:r>
              <a:rPr lang="en-US">
                <a:latin typeface="Calibri"/>
                <a:ea typeface="Calibri"/>
                <a:cs typeface="Calibri"/>
                <a:sym typeface="Calibri"/>
              </a:rPr>
              <a:t>Trying to find which model type/features work the best for this specific dataset and application</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ResNet doesn't just learn the transformation of the input through convolutions, but instead learns how much to modify the input by adding the learned residual (the change). This helps combat the vanishing gradient problem, particularly in deep networks, and allows the network to "skip" layers if needed—hence, the term "residual."</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Using 3 convolutional blocks with increasing filter sizes allows the model to extract hierarchical features—starting with edges and progressing to complex emotional cues. This structured expansion in representational power is key to achieving higher accuracy in emotion recognition.</a:t>
            </a:r>
            <a:endParaRPr/>
          </a:p>
        </p:txBody>
      </p:sp>
      <p:sp>
        <p:nvSpPr>
          <p:cNvPr id="161" name="Google Shape;1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Feature sets in this case aren't useful (could be in RGB images with 3 channels)</a:t>
            </a:r>
            <a:endParaRPr/>
          </a:p>
          <a:p>
            <a:pPr indent="0" lvl="0" marL="0" rtl="0" algn="l">
              <a:spcBef>
                <a:spcPts val="0"/>
              </a:spcBef>
              <a:spcAft>
                <a:spcPts val="0"/>
              </a:spcAft>
              <a:buNone/>
            </a:pPr>
            <a:r>
              <a:t/>
            </a:r>
            <a:endParaRPr/>
          </a:p>
        </p:txBody>
      </p:sp>
      <p:sp>
        <p:nvSpPr>
          <p:cNvPr id="172" name="Google Shape;17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More proof of overfitting issues – discuss later in slides</a:t>
            </a:r>
            <a:endParaRPr/>
          </a:p>
        </p:txBody>
      </p:sp>
      <p:sp>
        <p:nvSpPr>
          <p:cNvPr id="201" name="Google Shape;20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CustomFERCNN+CBAM had ~60% but was further improved by the kernels (!!) big talking point how our kernels improved the models</a:t>
            </a:r>
            <a:endParaRPr/>
          </a:p>
        </p:txBody>
      </p:sp>
      <p:sp>
        <p:nvSpPr>
          <p:cNvPr id="212" name="Google Shape;21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Angry, disgusted, happy</a:t>
            </a:r>
            <a:endParaRPr/>
          </a:p>
          <a:p>
            <a:pPr indent="0" lvl="0" marL="0" rtl="0" algn="l">
              <a:spcBef>
                <a:spcPts val="0"/>
              </a:spcBef>
              <a:spcAft>
                <a:spcPts val="0"/>
              </a:spcAft>
              <a:buNone/>
            </a:pPr>
            <a:r>
              <a:rPr lang="en-US">
                <a:latin typeface="Calibri"/>
                <a:ea typeface="Calibri"/>
                <a:cs typeface="Calibri"/>
                <a:sym typeface="Calibri"/>
              </a:rPr>
              <a:t>Generally focuses on mouth</a:t>
            </a:r>
            <a:endParaRPr/>
          </a:p>
          <a:p>
            <a:pPr indent="0" lvl="0" marL="0" rtl="0" algn="l">
              <a:spcBef>
                <a:spcPts val="0"/>
              </a:spcBef>
              <a:spcAft>
                <a:spcPts val="0"/>
              </a:spcAft>
              <a:buNone/>
            </a:pPr>
            <a:r>
              <a:rPr lang="en-US">
                <a:latin typeface="Calibri"/>
                <a:ea typeface="Calibri"/>
                <a:cs typeface="Calibri"/>
                <a:sym typeface="Calibri"/>
              </a:rPr>
              <a:t>Some activation on singular eye interestingly</a:t>
            </a:r>
            <a:endParaRPr/>
          </a:p>
        </p:txBody>
      </p:sp>
      <p:sp>
        <p:nvSpPr>
          <p:cNvPr id="231" name="Google Shape;23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a:t>
            </a:r>
            <a:r>
              <a:rPr lang="en-US"/>
              <a:t>L2 regularization (also called </a:t>
            </a:r>
            <a:r>
              <a:rPr b="1" lang="en-US"/>
              <a:t>ridge</a:t>
            </a:r>
            <a:r>
              <a:rPr lang="en-US"/>
              <a:t> regularization) adds a penalty to the loss function equal to the </a:t>
            </a:r>
            <a:r>
              <a:rPr b="1" lang="en-US"/>
              <a:t>sum of the squared model weights</a:t>
            </a:r>
            <a:r>
              <a:rPr lang="en-US"/>
              <a:t> (times a constant)."</a:t>
            </a:r>
            <a:endParaRPr/>
          </a:p>
          <a:p>
            <a:pPr indent="0" lvl="0" marL="0" rtl="0" algn="l">
              <a:spcBef>
                <a:spcPts val="0"/>
              </a:spcBef>
              <a:spcAft>
                <a:spcPts val="0"/>
              </a:spcAft>
              <a:buNone/>
            </a:pPr>
            <a:r>
              <a:rPr lang="en-US"/>
              <a:t>It discourages large weights, which helps prevent overfitting and improves generalization.</a:t>
            </a:r>
            <a:endParaRPr/>
          </a:p>
          <a:p>
            <a:pPr indent="0" lvl="0" marL="0" rtl="0" algn="l">
              <a:spcBef>
                <a:spcPts val="0"/>
              </a:spcBef>
              <a:spcAft>
                <a:spcPts val="0"/>
              </a:spcAft>
              <a:buNone/>
            </a:pPr>
            <a:r>
              <a:rPr lang="en-US"/>
              <a:t>Implemented through the built-in function in the Adam optimizer 'weight_decay" parameter</a:t>
            </a:r>
            <a:endParaRPr/>
          </a:p>
        </p:txBody>
      </p:sp>
      <p:sp>
        <p:nvSpPr>
          <p:cNvPr id="244" name="Google Shape;24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Trained models to 20 epochs – for best model we tested expanding to 30 but no change - showed our parameter was good</a:t>
            </a:r>
            <a:endParaRPr/>
          </a:p>
          <a:p>
            <a:pPr indent="0" lvl="0" marL="0" rtl="0" algn="l">
              <a:spcBef>
                <a:spcPts val="0"/>
              </a:spcBef>
              <a:spcAft>
                <a:spcPts val="0"/>
              </a:spcAft>
              <a:buNone/>
            </a:pPr>
            <a:r>
              <a:rPr lang="en-US">
                <a:latin typeface="Calibri"/>
                <a:ea typeface="Calibri"/>
                <a:cs typeface="Calibri"/>
                <a:sym typeface="Calibri"/>
              </a:rPr>
              <a:t>LEAD INTO OVERFITTING – training loss keeps going down but validation accuracy does not change –textbook overfitting</a:t>
            </a:r>
            <a:endParaRPr/>
          </a:p>
        </p:txBody>
      </p:sp>
      <p:sp>
        <p:nvSpPr>
          <p:cNvPr id="255" name="Google Shape;25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Overfitting likely due to class imbalances, complexity of the individual key points for each emotion</a:t>
            </a:r>
            <a:endParaRPr/>
          </a:p>
        </p:txBody>
      </p:sp>
      <p:sp>
        <p:nvSpPr>
          <p:cNvPr id="267" name="Google Shape;26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Vision Transformers is the other model commonly used nowadays besides CNNs</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277" name="Google Shape;27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30" name="Google Shape;30;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5"/>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26"/>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26"/>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26"/>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29"/>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3887391" y="987426"/>
            <a:ext cx="4629150" cy="4873625"/>
          </a:xfrm>
          <a:prstGeom prst="rect">
            <a:avLst/>
          </a:prstGeom>
          <a:noFill/>
          <a:ln>
            <a:noFill/>
          </a:ln>
        </p:spPr>
      </p:sp>
      <p:sp>
        <p:nvSpPr>
          <p:cNvPr id="68" name="Google Shape;68;p30"/>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3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9" name="Google Shape;89;p1"/>
          <p:cNvSpPr txBox="1"/>
          <p:nvPr>
            <p:ph type="ctrTitle"/>
          </p:nvPr>
        </p:nvSpPr>
        <p:spPr>
          <a:xfrm>
            <a:off x="628649" y="1093788"/>
            <a:ext cx="7879841" cy="296720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900"/>
              <a:buFont typeface="Play"/>
              <a:buNone/>
            </a:pPr>
            <a:r>
              <a:rPr lang="en-US" sz="4900"/>
              <a:t>Facial Expression Recognition Using Deep Learning</a:t>
            </a:r>
            <a:br>
              <a:rPr lang="en-US" sz="4900"/>
            </a:br>
            <a:r>
              <a:rPr lang="en-US" sz="2400"/>
              <a:t>Alex Rowson, Alex Slotter</a:t>
            </a:r>
            <a:endParaRPr sz="4900"/>
          </a:p>
        </p:txBody>
      </p:sp>
      <p:sp>
        <p:nvSpPr>
          <p:cNvPr id="90" name="Google Shape;90;p1"/>
          <p:cNvSpPr/>
          <p:nvPr/>
        </p:nvSpPr>
        <p:spPr>
          <a:xfrm>
            <a:off x="630936" y="4331166"/>
            <a:ext cx="787984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91" name="Google Shape;91;p1"/>
          <p:cNvSpPr/>
          <p:nvPr/>
        </p:nvSpPr>
        <p:spPr>
          <a:xfrm rot="5400000">
            <a:off x="7003304" y="2842186"/>
            <a:ext cx="54864" cy="296008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2"/>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8" name="Google Shape;98;p2"/>
          <p:cNvSpPr/>
          <p:nvPr/>
        </p:nvSpPr>
        <p:spPr>
          <a:xfrm>
            <a:off x="418656" y="260019"/>
            <a:ext cx="8375586" cy="5933012"/>
          </a:xfrm>
          <a:prstGeom prst="rect">
            <a:avLst/>
          </a:prstGeom>
          <a:solidFill>
            <a:schemeClr val="lt1"/>
          </a:solidFill>
          <a:ln cap="flat" cmpd="sng" w="12700">
            <a:solidFill>
              <a:srgbClr val="DEDEDE"/>
            </a:solidFill>
            <a:prstDash val="solid"/>
            <a:miter lim="800000"/>
            <a:headEnd len="sm" w="sm" type="none"/>
            <a:tailEnd len="sm" w="sm" type="none"/>
          </a:ln>
          <a:effectLst>
            <a:outerShdw blurRad="50800" rotWithShape="0" algn="tl" dir="2700000" dist="38100">
              <a:srgbClr val="C5C5C5">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9" name="Google Shape;99;p2"/>
          <p:cNvSpPr txBox="1"/>
          <p:nvPr>
            <p:ph type="title"/>
          </p:nvPr>
        </p:nvSpPr>
        <p:spPr>
          <a:xfrm>
            <a:off x="783771" y="507160"/>
            <a:ext cx="2245179" cy="54387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Play"/>
              <a:buNone/>
            </a:pPr>
            <a:r>
              <a:rPr lang="en-US" sz="2800"/>
              <a:t>Introduction</a:t>
            </a:r>
            <a:endParaRPr/>
          </a:p>
        </p:txBody>
      </p:sp>
      <p:sp>
        <p:nvSpPr>
          <p:cNvPr id="100" name="Google Shape;100;p2"/>
          <p:cNvSpPr/>
          <p:nvPr/>
        </p:nvSpPr>
        <p:spPr>
          <a:xfrm>
            <a:off x="374125" y="2874481"/>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101" name="Google Shape;101;p2"/>
          <p:cNvGrpSpPr/>
          <p:nvPr/>
        </p:nvGrpSpPr>
        <p:grpSpPr>
          <a:xfrm>
            <a:off x="3394710" y="756818"/>
            <a:ext cx="5122926" cy="4951171"/>
            <a:chOff x="0" y="244754"/>
            <a:chExt cx="5122926" cy="4951171"/>
          </a:xfrm>
        </p:grpSpPr>
        <p:sp>
          <p:nvSpPr>
            <p:cNvPr id="102" name="Google Shape;102;p2"/>
            <p:cNvSpPr/>
            <p:nvPr/>
          </p:nvSpPr>
          <p:spPr>
            <a:xfrm>
              <a:off x="0" y="244754"/>
              <a:ext cx="5122926" cy="1594710"/>
            </a:xfrm>
            <a:prstGeom prst="roundRect">
              <a:avLst>
                <a:gd fmla="val 16667" name="adj"/>
              </a:avLst>
            </a:prstGeom>
            <a:solidFill>
              <a:srgbClr val="A0289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txBox="1"/>
            <p:nvPr/>
          </p:nvSpPr>
          <p:spPr>
            <a:xfrm>
              <a:off x="77847" y="322601"/>
              <a:ext cx="4967232" cy="1439016"/>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Arial"/>
                <a:buNone/>
              </a:pPr>
              <a:r>
                <a:rPr b="0" i="0" lang="en-US" sz="2900" u="none" cap="none" strike="noStrike">
                  <a:solidFill>
                    <a:schemeClr val="lt1"/>
                  </a:solidFill>
                  <a:latin typeface="Arial"/>
                  <a:ea typeface="Arial"/>
                  <a:cs typeface="Arial"/>
                  <a:sym typeface="Arial"/>
                </a:rPr>
                <a:t>OBJECTIVE: HIGH ACCURACY IN FER </a:t>
              </a:r>
              <a:r>
                <a:rPr b="0" i="0" lang="en-US" sz="2900" u="none" cap="none" strike="noStrike">
                  <a:solidFill>
                    <a:schemeClr val="lt1"/>
                  </a:solidFill>
                  <a:latin typeface="Play"/>
                  <a:ea typeface="Play"/>
                  <a:cs typeface="Play"/>
                  <a:sym typeface="Play"/>
                </a:rPr>
                <a:t>DATASET USING</a:t>
              </a:r>
              <a:r>
                <a:rPr b="0" i="0" lang="en-US" sz="2900" u="none" cap="none" strike="noStrike">
                  <a:solidFill>
                    <a:schemeClr val="lt1"/>
                  </a:solidFill>
                  <a:latin typeface="Arial"/>
                  <a:ea typeface="Arial"/>
                  <a:cs typeface="Arial"/>
                  <a:sym typeface="Arial"/>
                </a:rPr>
                <a:t> DEEP LEARNING.</a:t>
              </a:r>
              <a:endParaRPr/>
            </a:p>
          </p:txBody>
        </p:sp>
        <p:sp>
          <p:nvSpPr>
            <p:cNvPr id="104" name="Google Shape;104;p2"/>
            <p:cNvSpPr/>
            <p:nvPr/>
          </p:nvSpPr>
          <p:spPr>
            <a:xfrm>
              <a:off x="0" y="1922984"/>
              <a:ext cx="5122926" cy="1594710"/>
            </a:xfrm>
            <a:prstGeom prst="roundRect">
              <a:avLst>
                <a:gd fmla="val 16667" name="adj"/>
              </a:avLst>
            </a:prstGeom>
            <a:solidFill>
              <a:srgbClr val="2B6FA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77847" y="2000831"/>
              <a:ext cx="4967232" cy="1439016"/>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Arial"/>
                <a:buNone/>
              </a:pPr>
              <a:r>
                <a:rPr b="0" i="0" lang="en-US" sz="2900" u="none" cap="none" strike="noStrike">
                  <a:solidFill>
                    <a:schemeClr val="lt1"/>
                  </a:solidFill>
                  <a:latin typeface="Arial"/>
                  <a:ea typeface="Arial"/>
                  <a:cs typeface="Arial"/>
                  <a:sym typeface="Arial"/>
                </a:rPr>
                <a:t>IMPORTANCE: PSYCHOLOGY, HEALTHCARE, EDUCATION, HCI.</a:t>
              </a:r>
              <a:endParaRPr/>
            </a:p>
          </p:txBody>
        </p:sp>
        <p:sp>
          <p:nvSpPr>
            <p:cNvPr id="106" name="Google Shape;106;p2"/>
            <p:cNvSpPr/>
            <p:nvPr/>
          </p:nvSpPr>
          <p:spPr>
            <a:xfrm>
              <a:off x="0" y="3601215"/>
              <a:ext cx="5122926" cy="1594710"/>
            </a:xfrm>
            <a:prstGeom prst="roundRect">
              <a:avLst>
                <a:gd fmla="val 16667" name="adj"/>
              </a:avLst>
            </a:prstGeom>
            <a:solidFill>
              <a:srgbClr val="4CA62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txBox="1"/>
            <p:nvPr/>
          </p:nvSpPr>
          <p:spPr>
            <a:xfrm>
              <a:off x="77847" y="3679062"/>
              <a:ext cx="4967232" cy="1439016"/>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Arial"/>
                <a:buNone/>
              </a:pPr>
              <a:r>
                <a:rPr b="0" i="0" lang="en-US" sz="2900" u="none" cap="none" strike="noStrike">
                  <a:solidFill>
                    <a:schemeClr val="lt1"/>
                  </a:solidFill>
                  <a:latin typeface="Arial"/>
                  <a:ea typeface="Arial"/>
                  <a:cs typeface="Arial"/>
                  <a:sym typeface="Arial"/>
                </a:rPr>
                <a:t>STRATEGY: ITERATIVE CNN DESIGNS FROM BASELINE TO ATTENTION MODELS.</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4"/>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3" name="Google Shape;113;p4"/>
          <p:cNvSpPr/>
          <p:nvPr/>
        </p:nvSpPr>
        <p:spPr>
          <a:xfrm>
            <a:off x="418656" y="0"/>
            <a:ext cx="8375586"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4" name="Google Shape;114;p4"/>
          <p:cNvSpPr/>
          <p:nvPr/>
        </p:nvSpPr>
        <p:spPr>
          <a:xfrm>
            <a:off x="425196" y="0"/>
            <a:ext cx="836676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5" name="Google Shape;115;p4"/>
          <p:cNvSpPr txBox="1"/>
          <p:nvPr>
            <p:ph type="title"/>
          </p:nvPr>
        </p:nvSpPr>
        <p:spPr>
          <a:xfrm>
            <a:off x="836676" y="548640"/>
            <a:ext cx="7626096"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Play"/>
              <a:buNone/>
            </a:pPr>
            <a:r>
              <a:rPr lang="en-US" sz="3500"/>
              <a:t>Preprocessing and Augmentation</a:t>
            </a:r>
            <a:endParaRPr/>
          </a:p>
        </p:txBody>
      </p:sp>
      <p:sp>
        <p:nvSpPr>
          <p:cNvPr id="116" name="Google Shape;116;p4"/>
          <p:cNvSpPr/>
          <p:nvPr/>
        </p:nvSpPr>
        <p:spPr>
          <a:xfrm>
            <a:off x="374125" y="758952"/>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7" name="Google Shape;117;p4"/>
          <p:cNvSpPr txBox="1"/>
          <p:nvPr>
            <p:ph idx="1" type="body"/>
          </p:nvPr>
        </p:nvSpPr>
        <p:spPr>
          <a:xfrm>
            <a:off x="900684" y="2991685"/>
            <a:ext cx="7626096" cy="214724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Dataset came split for test and train, in 48x48</a:t>
            </a:r>
            <a:endParaRPr/>
          </a:p>
          <a:p>
            <a:pPr indent="-171450" lvl="0" marL="171450" rtl="0" algn="l">
              <a:lnSpc>
                <a:spcPct val="90000"/>
              </a:lnSpc>
              <a:spcBef>
                <a:spcPts val="750"/>
              </a:spcBef>
              <a:spcAft>
                <a:spcPts val="0"/>
              </a:spcAft>
              <a:buClr>
                <a:schemeClr val="dk1"/>
              </a:buClr>
              <a:buSzPts val="2400"/>
              <a:buChar char="•"/>
            </a:pPr>
            <a:r>
              <a:rPr lang="en-US" sz="2400"/>
              <a:t>Augmentations: horizontal flip, ±10° rotation, random crop</a:t>
            </a:r>
            <a:endParaRPr/>
          </a:p>
          <a:p>
            <a:pPr indent="-171450" lvl="0" marL="171450" rtl="0" algn="l">
              <a:lnSpc>
                <a:spcPct val="90000"/>
              </a:lnSpc>
              <a:spcBef>
                <a:spcPts val="750"/>
              </a:spcBef>
              <a:spcAft>
                <a:spcPts val="0"/>
              </a:spcAft>
              <a:buClr>
                <a:schemeClr val="dk1"/>
              </a:buClr>
              <a:buSzPts val="2400"/>
              <a:buChar char="•"/>
            </a:pPr>
            <a:r>
              <a:rPr lang="en-US" sz="2400"/>
              <a:t>Normalization: mean=0.5, std=0.5</a:t>
            </a:r>
            <a:endParaRPr/>
          </a:p>
          <a:p>
            <a:pPr indent="-171450" lvl="0" marL="171450" rtl="0" algn="l">
              <a:lnSpc>
                <a:spcPct val="90000"/>
              </a:lnSpc>
              <a:spcBef>
                <a:spcPts val="750"/>
              </a:spcBef>
              <a:spcAft>
                <a:spcPts val="0"/>
              </a:spcAft>
              <a:buClr>
                <a:schemeClr val="dk1"/>
              </a:buClr>
              <a:buSzPts val="2400"/>
              <a:buChar char="•"/>
            </a:pPr>
            <a:r>
              <a:rPr lang="en-US" sz="2400"/>
              <a:t>Purpose: Better generalization, less overfitting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5"/>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3" name="Google Shape;123;p5"/>
          <p:cNvSpPr txBox="1"/>
          <p:nvPr>
            <p:ph type="title"/>
          </p:nvPr>
        </p:nvSpPr>
        <p:spPr>
          <a:xfrm>
            <a:off x="628649" y="1093788"/>
            <a:ext cx="7879841" cy="296720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7000"/>
              <a:buFont typeface="Play"/>
              <a:buNone/>
            </a:pPr>
            <a:r>
              <a:rPr lang="en-US" sz="7000">
                <a:solidFill>
                  <a:schemeClr val="dk1"/>
                </a:solidFill>
                <a:latin typeface="Play"/>
                <a:ea typeface="Play"/>
                <a:cs typeface="Play"/>
                <a:sym typeface="Play"/>
              </a:rPr>
              <a:t>Models</a:t>
            </a:r>
            <a:endParaRPr/>
          </a:p>
        </p:txBody>
      </p:sp>
      <p:sp>
        <p:nvSpPr>
          <p:cNvPr id="124" name="Google Shape;124;p5"/>
          <p:cNvSpPr/>
          <p:nvPr/>
        </p:nvSpPr>
        <p:spPr>
          <a:xfrm>
            <a:off x="630936" y="4331166"/>
            <a:ext cx="787984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5" name="Google Shape;125;p5"/>
          <p:cNvSpPr/>
          <p:nvPr/>
        </p:nvSpPr>
        <p:spPr>
          <a:xfrm rot="5400000">
            <a:off x="7003304" y="2842186"/>
            <a:ext cx="54864" cy="296008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23"/>
                                        </p:tgtEl>
                                        <p:attrNameLst>
                                          <p:attrName>style.visibility</p:attrName>
                                        </p:attrNameLst>
                                      </p:cBhvr>
                                      <p:to>
                                        <p:strVal val="visible"/>
                                      </p:to>
                                    </p:set>
                                    <p:animEffect filter="fade" transition="in">
                                      <p:cBhvr>
                                        <p:cTn dur="10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6"/>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2" name="Google Shape;132;p6"/>
          <p:cNvSpPr/>
          <p:nvPr/>
        </p:nvSpPr>
        <p:spPr>
          <a:xfrm>
            <a:off x="418656" y="0"/>
            <a:ext cx="8375586"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3" name="Google Shape;133;p6"/>
          <p:cNvSpPr/>
          <p:nvPr/>
        </p:nvSpPr>
        <p:spPr>
          <a:xfrm>
            <a:off x="425196" y="0"/>
            <a:ext cx="836676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4" name="Google Shape;134;p6"/>
          <p:cNvSpPr txBox="1"/>
          <p:nvPr>
            <p:ph type="title"/>
          </p:nvPr>
        </p:nvSpPr>
        <p:spPr>
          <a:xfrm>
            <a:off x="836676" y="548640"/>
            <a:ext cx="7626096"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Play"/>
              <a:buNone/>
            </a:pPr>
            <a:r>
              <a:rPr lang="en-US" sz="3500"/>
              <a:t>Baseline CNN (EmotionCNN)</a:t>
            </a:r>
            <a:endParaRPr/>
          </a:p>
        </p:txBody>
      </p:sp>
      <p:sp>
        <p:nvSpPr>
          <p:cNvPr id="135" name="Google Shape;135;p6"/>
          <p:cNvSpPr/>
          <p:nvPr/>
        </p:nvSpPr>
        <p:spPr>
          <a:xfrm>
            <a:off x="374125" y="758952"/>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6" name="Google Shape;136;p6"/>
          <p:cNvSpPr txBox="1"/>
          <p:nvPr>
            <p:ph idx="1" type="body"/>
          </p:nvPr>
        </p:nvSpPr>
        <p:spPr>
          <a:xfrm>
            <a:off x="836676" y="2481943"/>
            <a:ext cx="7626096" cy="369502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3 Conv Layers (32→64→128) with MaxPooling for downsampling + Dropout for overfitting</a:t>
            </a:r>
            <a:endParaRPr/>
          </a:p>
          <a:p>
            <a:pPr indent="-171450" lvl="0" marL="171450" rtl="0" algn="l">
              <a:lnSpc>
                <a:spcPct val="90000"/>
              </a:lnSpc>
              <a:spcBef>
                <a:spcPts val="750"/>
              </a:spcBef>
              <a:spcAft>
                <a:spcPts val="0"/>
              </a:spcAft>
              <a:buClr>
                <a:schemeClr val="dk1"/>
              </a:buClr>
              <a:buSzPts val="2400"/>
              <a:buChar char="•"/>
            </a:pPr>
            <a:r>
              <a:rPr lang="en-US" sz="2400"/>
              <a:t>Fully connected layer for classification</a:t>
            </a:r>
            <a:endParaRPr/>
          </a:p>
          <a:p>
            <a:pPr indent="-171450" lvl="0" marL="171450" rtl="0" algn="l">
              <a:lnSpc>
                <a:spcPct val="90000"/>
              </a:lnSpc>
              <a:spcBef>
                <a:spcPts val="750"/>
              </a:spcBef>
              <a:spcAft>
                <a:spcPts val="0"/>
              </a:spcAft>
              <a:buClr>
                <a:schemeClr val="dk1"/>
              </a:buClr>
              <a:buSzPts val="2400"/>
              <a:buChar char="•"/>
            </a:pPr>
            <a:r>
              <a:rPr lang="en-US" sz="2400"/>
              <a:t>Captures hierarchical facial features</a:t>
            </a:r>
            <a:endParaRPr/>
          </a:p>
          <a:p>
            <a:pPr indent="-171450" lvl="0" marL="171450" rtl="0" algn="l">
              <a:lnSpc>
                <a:spcPct val="90000"/>
              </a:lnSpc>
              <a:spcBef>
                <a:spcPts val="750"/>
              </a:spcBef>
              <a:spcAft>
                <a:spcPts val="0"/>
              </a:spcAft>
              <a:buClr>
                <a:schemeClr val="dk1"/>
              </a:buClr>
              <a:buSzPts val="2400"/>
              <a:buChar char="•"/>
            </a:pPr>
            <a:r>
              <a:rPr lang="en-US" sz="2400"/>
              <a:t>Struggled with complex features of emotions</a:t>
            </a:r>
            <a:endParaRPr/>
          </a:p>
          <a:p>
            <a:pPr indent="-171450" lvl="0" marL="171450" rtl="0" algn="l">
              <a:lnSpc>
                <a:spcPct val="90000"/>
              </a:lnSpc>
              <a:spcBef>
                <a:spcPts val="750"/>
              </a:spcBef>
              <a:spcAft>
                <a:spcPts val="0"/>
              </a:spcAft>
              <a:buClr>
                <a:schemeClr val="dk1"/>
              </a:buClr>
              <a:buSzPts val="2400"/>
              <a:buChar char="•"/>
            </a:pPr>
            <a:r>
              <a:rPr lang="en-US" sz="2400"/>
              <a:t>Accuracy: 58.26%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 name="Shape 140"/>
        <p:cNvGrpSpPr/>
        <p:nvPr/>
      </p:nvGrpSpPr>
      <p:grpSpPr>
        <a:xfrm>
          <a:off x="0" y="0"/>
          <a:ext cx="0" cy="0"/>
          <a:chOff x="0" y="0"/>
          <a:chExt cx="0" cy="0"/>
        </a:xfrm>
      </p:grpSpPr>
      <p:sp>
        <p:nvSpPr>
          <p:cNvPr id="141" name="Google Shape;141;p7"/>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2" name="Google Shape;142;p7"/>
          <p:cNvSpPr/>
          <p:nvPr/>
        </p:nvSpPr>
        <p:spPr>
          <a:xfrm>
            <a:off x="418656" y="0"/>
            <a:ext cx="8375586"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3" name="Google Shape;143;p7"/>
          <p:cNvSpPr/>
          <p:nvPr/>
        </p:nvSpPr>
        <p:spPr>
          <a:xfrm>
            <a:off x="425196" y="0"/>
            <a:ext cx="836676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4" name="Google Shape;144;p7"/>
          <p:cNvSpPr txBox="1"/>
          <p:nvPr>
            <p:ph type="title"/>
          </p:nvPr>
        </p:nvSpPr>
        <p:spPr>
          <a:xfrm>
            <a:off x="836676" y="548640"/>
            <a:ext cx="7626096"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Play"/>
              <a:buNone/>
            </a:pPr>
            <a:r>
              <a:rPr lang="en-US" sz="3500"/>
              <a:t>CNN with Fixed Custom Kernels</a:t>
            </a:r>
            <a:endParaRPr/>
          </a:p>
        </p:txBody>
      </p:sp>
      <p:sp>
        <p:nvSpPr>
          <p:cNvPr id="145" name="Google Shape;145;p7"/>
          <p:cNvSpPr/>
          <p:nvPr/>
        </p:nvSpPr>
        <p:spPr>
          <a:xfrm>
            <a:off x="374125" y="758952"/>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6" name="Google Shape;146;p7"/>
          <p:cNvSpPr txBox="1"/>
          <p:nvPr>
            <p:ph idx="1" type="body"/>
          </p:nvPr>
        </p:nvSpPr>
        <p:spPr>
          <a:xfrm>
            <a:off x="836676" y="2481943"/>
            <a:ext cx="7626096" cy="369502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Handcrafted filters: Sobel, Centre, Sharpen and Diagonal – enables focus on facial features</a:t>
            </a:r>
            <a:endParaRPr/>
          </a:p>
          <a:p>
            <a:pPr indent="-171450" lvl="0" marL="171450" rtl="0" algn="l">
              <a:lnSpc>
                <a:spcPct val="90000"/>
              </a:lnSpc>
              <a:spcBef>
                <a:spcPts val="750"/>
              </a:spcBef>
              <a:spcAft>
                <a:spcPts val="0"/>
              </a:spcAft>
              <a:buClr>
                <a:schemeClr val="dk1"/>
              </a:buClr>
              <a:buSzPts val="2400"/>
              <a:buChar char="•"/>
            </a:pPr>
            <a:r>
              <a:rPr lang="en-US" sz="2400"/>
              <a:t>Same CNN structure as baseline</a:t>
            </a:r>
            <a:endParaRPr/>
          </a:p>
          <a:p>
            <a:pPr indent="-171450" lvl="0" marL="171450" rtl="0" algn="l">
              <a:lnSpc>
                <a:spcPct val="90000"/>
              </a:lnSpc>
              <a:spcBef>
                <a:spcPts val="750"/>
              </a:spcBef>
              <a:spcAft>
                <a:spcPts val="0"/>
              </a:spcAft>
              <a:buClr>
                <a:schemeClr val="dk1"/>
              </a:buClr>
              <a:buSzPts val="2400"/>
              <a:buChar char="•"/>
            </a:pPr>
            <a:r>
              <a:rPr lang="en-US" sz="2400"/>
              <a:t>Enhanced edge-based features</a:t>
            </a:r>
            <a:endParaRPr/>
          </a:p>
          <a:p>
            <a:pPr indent="-171450" lvl="0" marL="171450" rtl="0" algn="l">
              <a:lnSpc>
                <a:spcPct val="90000"/>
              </a:lnSpc>
              <a:spcBef>
                <a:spcPts val="750"/>
              </a:spcBef>
              <a:spcAft>
                <a:spcPts val="0"/>
              </a:spcAft>
              <a:buClr>
                <a:schemeClr val="dk1"/>
              </a:buClr>
              <a:buSzPts val="2400"/>
              <a:buChar char="•"/>
            </a:pPr>
            <a:r>
              <a:rPr lang="en-US" sz="2400"/>
              <a:t>Proved kernels could be useful for dataset</a:t>
            </a:r>
            <a:endParaRPr/>
          </a:p>
          <a:p>
            <a:pPr indent="-171450" lvl="0" marL="171450" rtl="0" algn="l">
              <a:lnSpc>
                <a:spcPct val="90000"/>
              </a:lnSpc>
              <a:spcBef>
                <a:spcPts val="750"/>
              </a:spcBef>
              <a:spcAft>
                <a:spcPts val="0"/>
              </a:spcAft>
              <a:buClr>
                <a:schemeClr val="dk1"/>
              </a:buClr>
              <a:buSzPts val="2400"/>
              <a:buChar char="•"/>
            </a:pPr>
            <a:r>
              <a:rPr lang="en-US" sz="2400"/>
              <a:t>Accuracy: 59.72%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p8"/>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3" name="Google Shape;153;p8"/>
          <p:cNvSpPr/>
          <p:nvPr/>
        </p:nvSpPr>
        <p:spPr>
          <a:xfrm>
            <a:off x="418656" y="0"/>
            <a:ext cx="8375586"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4" name="Google Shape;154;p8"/>
          <p:cNvSpPr/>
          <p:nvPr/>
        </p:nvSpPr>
        <p:spPr>
          <a:xfrm>
            <a:off x="425196" y="0"/>
            <a:ext cx="836676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5" name="Google Shape;155;p8"/>
          <p:cNvSpPr txBox="1"/>
          <p:nvPr>
            <p:ph type="title"/>
          </p:nvPr>
        </p:nvSpPr>
        <p:spPr>
          <a:xfrm>
            <a:off x="836676" y="548640"/>
            <a:ext cx="7626096"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Play"/>
              <a:buNone/>
            </a:pPr>
            <a:r>
              <a:rPr lang="en-US" sz="3500"/>
              <a:t>SimpleResNetFER</a:t>
            </a:r>
            <a:endParaRPr/>
          </a:p>
        </p:txBody>
      </p:sp>
      <p:sp>
        <p:nvSpPr>
          <p:cNvPr id="156" name="Google Shape;156;p8"/>
          <p:cNvSpPr/>
          <p:nvPr/>
        </p:nvSpPr>
        <p:spPr>
          <a:xfrm>
            <a:off x="374125" y="758952"/>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7" name="Google Shape;157;p8"/>
          <p:cNvSpPr txBox="1"/>
          <p:nvPr>
            <p:ph idx="1" type="body"/>
          </p:nvPr>
        </p:nvSpPr>
        <p:spPr>
          <a:xfrm>
            <a:off x="836676" y="2481943"/>
            <a:ext cx="7626096" cy="369502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Custom Kernel + BatchNorm</a:t>
            </a:r>
            <a:endParaRPr/>
          </a:p>
          <a:p>
            <a:pPr indent="-171450" lvl="0" marL="171450" rtl="0" algn="l">
              <a:lnSpc>
                <a:spcPct val="90000"/>
              </a:lnSpc>
              <a:spcBef>
                <a:spcPts val="750"/>
              </a:spcBef>
              <a:spcAft>
                <a:spcPts val="0"/>
              </a:spcAft>
              <a:buClr>
                <a:schemeClr val="dk1"/>
              </a:buClr>
              <a:buSzPts val="2400"/>
              <a:buChar char="•"/>
            </a:pPr>
            <a:r>
              <a:rPr lang="en-US" sz="2400"/>
              <a:t>3 Residual Blocks (64→128→256)</a:t>
            </a:r>
            <a:endParaRPr/>
          </a:p>
          <a:p>
            <a:pPr indent="-171450" lvl="0" marL="171450" rtl="0" algn="l">
              <a:lnSpc>
                <a:spcPct val="90000"/>
              </a:lnSpc>
              <a:spcBef>
                <a:spcPts val="750"/>
              </a:spcBef>
              <a:spcAft>
                <a:spcPts val="0"/>
              </a:spcAft>
              <a:buClr>
                <a:schemeClr val="dk1"/>
              </a:buClr>
              <a:buSzPts val="2400"/>
              <a:buChar char="•"/>
            </a:pPr>
            <a:r>
              <a:rPr lang="en-US" sz="2400"/>
              <a:t>Global Avg Pooling + Fully connected Layer</a:t>
            </a:r>
            <a:endParaRPr/>
          </a:p>
          <a:p>
            <a:pPr indent="-171450" lvl="0" marL="171450" rtl="0" algn="l">
              <a:lnSpc>
                <a:spcPct val="90000"/>
              </a:lnSpc>
              <a:spcBef>
                <a:spcPts val="750"/>
              </a:spcBef>
              <a:spcAft>
                <a:spcPts val="0"/>
              </a:spcAft>
              <a:buClr>
                <a:schemeClr val="dk1"/>
              </a:buClr>
              <a:buSzPts val="2400"/>
              <a:buFont typeface="Arial"/>
              <a:buChar char="•"/>
            </a:pPr>
            <a:r>
              <a:rPr lang="en-US" sz="2400"/>
              <a:t>Gradient stability, deeper features</a:t>
            </a:r>
            <a:endParaRPr/>
          </a:p>
          <a:p>
            <a:pPr indent="-171450" lvl="0" marL="171450" rtl="0" algn="l">
              <a:lnSpc>
                <a:spcPct val="90000"/>
              </a:lnSpc>
              <a:spcBef>
                <a:spcPts val="750"/>
              </a:spcBef>
              <a:spcAft>
                <a:spcPts val="0"/>
              </a:spcAft>
              <a:buClr>
                <a:schemeClr val="dk1"/>
              </a:buClr>
              <a:buSzPts val="2400"/>
              <a:buFont typeface="Arial"/>
              <a:buChar char="•"/>
            </a:pPr>
            <a:r>
              <a:rPr lang="en-US" sz="2400"/>
              <a:t>Performed below expected</a:t>
            </a:r>
            <a:endParaRPr/>
          </a:p>
          <a:p>
            <a:pPr indent="-171450" lvl="0" marL="171450" rtl="0" algn="l">
              <a:lnSpc>
                <a:spcPct val="90000"/>
              </a:lnSpc>
              <a:spcBef>
                <a:spcPts val="750"/>
              </a:spcBef>
              <a:spcAft>
                <a:spcPts val="0"/>
              </a:spcAft>
              <a:buClr>
                <a:schemeClr val="dk1"/>
              </a:buClr>
              <a:buSzPts val="2400"/>
              <a:buChar char="•"/>
            </a:pPr>
            <a:r>
              <a:rPr lang="en-US" sz="2400"/>
              <a:t>Accuracy: 53.13%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9"/>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4" name="Google Shape;164;p9"/>
          <p:cNvSpPr/>
          <p:nvPr/>
        </p:nvSpPr>
        <p:spPr>
          <a:xfrm>
            <a:off x="418656" y="0"/>
            <a:ext cx="8375586"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5" name="Google Shape;165;p9"/>
          <p:cNvSpPr/>
          <p:nvPr/>
        </p:nvSpPr>
        <p:spPr>
          <a:xfrm>
            <a:off x="425196" y="0"/>
            <a:ext cx="836676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6" name="Google Shape;166;p9"/>
          <p:cNvSpPr txBox="1"/>
          <p:nvPr>
            <p:ph type="title"/>
          </p:nvPr>
        </p:nvSpPr>
        <p:spPr>
          <a:xfrm>
            <a:off x="836676" y="548640"/>
            <a:ext cx="7626096"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Play"/>
              <a:buNone/>
            </a:pPr>
            <a:r>
              <a:rPr lang="en-US" sz="3500"/>
              <a:t>CustomFERCNN with CBAM (Best Model)</a:t>
            </a:r>
            <a:endParaRPr/>
          </a:p>
        </p:txBody>
      </p:sp>
      <p:sp>
        <p:nvSpPr>
          <p:cNvPr id="167" name="Google Shape;167;p9"/>
          <p:cNvSpPr/>
          <p:nvPr/>
        </p:nvSpPr>
        <p:spPr>
          <a:xfrm>
            <a:off x="374125" y="758952"/>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68" name="Google Shape;168;p9"/>
          <p:cNvSpPr txBox="1"/>
          <p:nvPr>
            <p:ph idx="1" type="body"/>
          </p:nvPr>
        </p:nvSpPr>
        <p:spPr>
          <a:xfrm>
            <a:off x="836676" y="2481943"/>
            <a:ext cx="7626096" cy="369502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3 Conv Blocks (64→128→256) + CBAM (attention)</a:t>
            </a:r>
            <a:endParaRPr/>
          </a:p>
          <a:p>
            <a:pPr indent="-171450" lvl="0" marL="171450" rtl="0" algn="l">
              <a:lnSpc>
                <a:spcPct val="90000"/>
              </a:lnSpc>
              <a:spcBef>
                <a:spcPts val="750"/>
              </a:spcBef>
              <a:spcAft>
                <a:spcPts val="0"/>
              </a:spcAft>
              <a:buClr>
                <a:schemeClr val="dk1"/>
              </a:buClr>
              <a:buSzPts val="2400"/>
              <a:buChar char="•"/>
            </a:pPr>
            <a:r>
              <a:rPr lang="en-US" sz="2400"/>
              <a:t>Focus on eyes, mouth, brows via attention</a:t>
            </a:r>
            <a:endParaRPr/>
          </a:p>
          <a:p>
            <a:pPr indent="-171450" lvl="0" marL="171450" rtl="0" algn="l">
              <a:lnSpc>
                <a:spcPct val="90000"/>
              </a:lnSpc>
              <a:spcBef>
                <a:spcPts val="750"/>
              </a:spcBef>
              <a:spcAft>
                <a:spcPts val="0"/>
              </a:spcAft>
              <a:buClr>
                <a:schemeClr val="dk1"/>
              </a:buClr>
              <a:buSzPts val="2400"/>
              <a:buChar char="•"/>
            </a:pPr>
            <a:r>
              <a:rPr lang="en-US" sz="2400"/>
              <a:t>Combined with focus of kernels</a:t>
            </a:r>
            <a:endParaRPr/>
          </a:p>
          <a:p>
            <a:pPr indent="-171450" lvl="0" marL="171450" rtl="0" algn="l">
              <a:lnSpc>
                <a:spcPct val="90000"/>
              </a:lnSpc>
              <a:spcBef>
                <a:spcPts val="750"/>
              </a:spcBef>
              <a:spcAft>
                <a:spcPts val="0"/>
              </a:spcAft>
              <a:buClr>
                <a:schemeClr val="dk1"/>
              </a:buClr>
              <a:buSzPts val="2400"/>
              <a:buChar char="•"/>
            </a:pPr>
            <a:r>
              <a:rPr lang="en-US" sz="2400"/>
              <a:t>ReLU for prevention of vanishing gradients</a:t>
            </a:r>
            <a:endParaRPr/>
          </a:p>
          <a:p>
            <a:pPr indent="-171450" lvl="0" marL="171450" rtl="0" algn="l">
              <a:lnSpc>
                <a:spcPct val="90000"/>
              </a:lnSpc>
              <a:spcBef>
                <a:spcPts val="750"/>
              </a:spcBef>
              <a:spcAft>
                <a:spcPts val="0"/>
              </a:spcAft>
              <a:buClr>
                <a:schemeClr val="dk1"/>
              </a:buClr>
              <a:buSzPts val="2400"/>
              <a:buChar char="•"/>
            </a:pPr>
            <a:r>
              <a:rPr lang="en-US" sz="2400"/>
              <a:t>Dropout + FC (512→7)</a:t>
            </a:r>
            <a:endParaRPr/>
          </a:p>
          <a:p>
            <a:pPr indent="-171450" lvl="0" marL="171450" rtl="0" algn="l">
              <a:lnSpc>
                <a:spcPct val="90000"/>
              </a:lnSpc>
              <a:spcBef>
                <a:spcPts val="750"/>
              </a:spcBef>
              <a:spcAft>
                <a:spcPts val="0"/>
              </a:spcAft>
              <a:buClr>
                <a:schemeClr val="dk1"/>
              </a:buClr>
              <a:buSzPts val="2400"/>
              <a:buChar char="•"/>
            </a:pPr>
            <a:r>
              <a:rPr lang="en-US" sz="2400"/>
              <a:t>Accuracy: 62.18%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10"/>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5" name="Google Shape;175;p10"/>
          <p:cNvSpPr/>
          <p:nvPr/>
        </p:nvSpPr>
        <p:spPr>
          <a:xfrm>
            <a:off x="418656" y="0"/>
            <a:ext cx="8375586"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76" name="Google Shape;176;p10"/>
          <p:cNvSpPr/>
          <p:nvPr/>
        </p:nvSpPr>
        <p:spPr>
          <a:xfrm>
            <a:off x="425196" y="0"/>
            <a:ext cx="836676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77" name="Google Shape;177;p10"/>
          <p:cNvSpPr txBox="1"/>
          <p:nvPr>
            <p:ph type="title"/>
          </p:nvPr>
        </p:nvSpPr>
        <p:spPr>
          <a:xfrm>
            <a:off x="836676" y="548640"/>
            <a:ext cx="7626096"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Play"/>
              <a:buNone/>
            </a:pPr>
            <a:r>
              <a:rPr lang="en-US" sz="3500"/>
              <a:t>Convolutional Block Attention Module</a:t>
            </a:r>
            <a:endParaRPr/>
          </a:p>
        </p:txBody>
      </p:sp>
      <p:sp>
        <p:nvSpPr>
          <p:cNvPr id="178" name="Google Shape;178;p10"/>
          <p:cNvSpPr/>
          <p:nvPr/>
        </p:nvSpPr>
        <p:spPr>
          <a:xfrm>
            <a:off x="374125" y="758952"/>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79" name="Google Shape;179;p10"/>
          <p:cNvSpPr txBox="1"/>
          <p:nvPr>
            <p:ph idx="1" type="body"/>
          </p:nvPr>
        </p:nvSpPr>
        <p:spPr>
          <a:xfrm>
            <a:off x="469787" y="3984776"/>
            <a:ext cx="8366929" cy="2876576"/>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Module that can be added to convolutional networks</a:t>
            </a:r>
            <a:endParaRPr/>
          </a:p>
          <a:p>
            <a:pPr indent="-171450" lvl="0" marL="171450" rtl="0" algn="l">
              <a:lnSpc>
                <a:spcPct val="90000"/>
              </a:lnSpc>
              <a:spcBef>
                <a:spcPts val="750"/>
              </a:spcBef>
              <a:spcAft>
                <a:spcPts val="0"/>
              </a:spcAft>
              <a:buClr>
                <a:schemeClr val="dk1"/>
              </a:buClr>
              <a:buSzPts val="2400"/>
              <a:buChar char="•"/>
            </a:pPr>
            <a:r>
              <a:rPr lang="en-US" sz="2400"/>
              <a:t>Channel attention selects most important feature sets</a:t>
            </a:r>
            <a:endParaRPr/>
          </a:p>
          <a:p>
            <a:pPr indent="-171450" lvl="0" marL="171450" rtl="0" algn="l">
              <a:lnSpc>
                <a:spcPct val="90000"/>
              </a:lnSpc>
              <a:spcBef>
                <a:spcPts val="750"/>
              </a:spcBef>
              <a:spcAft>
                <a:spcPts val="0"/>
              </a:spcAft>
              <a:buClr>
                <a:schemeClr val="dk1"/>
              </a:buClr>
              <a:buSzPts val="2400"/>
              <a:buChar char="•"/>
            </a:pPr>
            <a:r>
              <a:rPr lang="en-US" sz="2400"/>
              <a:t>Spatial attention chooses most important regions spatially</a:t>
            </a:r>
            <a:endParaRPr/>
          </a:p>
          <a:p>
            <a:pPr indent="-171450" lvl="1" marL="514350" rtl="0" algn="l">
              <a:lnSpc>
                <a:spcPct val="90000"/>
              </a:lnSpc>
              <a:spcBef>
                <a:spcPts val="375"/>
              </a:spcBef>
              <a:spcAft>
                <a:spcPts val="0"/>
              </a:spcAft>
              <a:buClr>
                <a:schemeClr val="dk1"/>
              </a:buClr>
              <a:buSzPts val="2100"/>
              <a:buFont typeface="Courier New"/>
              <a:buChar char="o"/>
            </a:pPr>
            <a:r>
              <a:rPr lang="en-US" sz="2100"/>
              <a:t>Uses AvgPool and MaxPool to highlight active regions</a:t>
            </a:r>
            <a:endParaRPr/>
          </a:p>
          <a:p>
            <a:pPr indent="-171450" lvl="1" marL="514350" rtl="0" algn="l">
              <a:lnSpc>
                <a:spcPct val="90000"/>
              </a:lnSpc>
              <a:spcBef>
                <a:spcPts val="375"/>
              </a:spcBef>
              <a:spcAft>
                <a:spcPts val="0"/>
              </a:spcAft>
              <a:buClr>
                <a:schemeClr val="dk1"/>
              </a:buClr>
              <a:buSzPts val="2100"/>
              <a:buFont typeface="Courier New"/>
              <a:buChar char="o"/>
            </a:pPr>
            <a:r>
              <a:rPr lang="en-US" sz="2100"/>
              <a:t>Sigmoid activation scales between 0-1</a:t>
            </a:r>
            <a:endParaRPr/>
          </a:p>
        </p:txBody>
      </p:sp>
      <p:pic>
        <p:nvPicPr>
          <p:cNvPr descr="Convolutional Block Attention Module layout" id="180" name="Google Shape;180;p10"/>
          <p:cNvPicPr preferRelativeResize="0"/>
          <p:nvPr/>
        </p:nvPicPr>
        <p:blipFill rotWithShape="1">
          <a:blip r:embed="rId3">
            <a:alphaModFix/>
          </a:blip>
          <a:srcRect b="0" l="0" r="0" t="0"/>
          <a:stretch/>
        </p:blipFill>
        <p:spPr>
          <a:xfrm>
            <a:off x="561622" y="1458260"/>
            <a:ext cx="8175976" cy="25303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11"/>
          <p:cNvSpPr txBox="1"/>
          <p:nvPr>
            <p:ph type="title"/>
          </p:nvPr>
        </p:nvSpPr>
        <p:spPr>
          <a:xfrm>
            <a:off x="628650" y="365125"/>
            <a:ext cx="404502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Play"/>
              <a:buNone/>
            </a:pPr>
            <a:r>
              <a:rPr lang="en-US" sz="3300">
                <a:solidFill>
                  <a:schemeClr val="dk1"/>
                </a:solidFill>
                <a:latin typeface="Play"/>
                <a:ea typeface="Play"/>
                <a:cs typeface="Play"/>
                <a:sym typeface="Play"/>
              </a:rPr>
              <a:t>Evaluation Strategy</a:t>
            </a:r>
            <a:endParaRPr/>
          </a:p>
        </p:txBody>
      </p:sp>
      <p:grpSp>
        <p:nvGrpSpPr>
          <p:cNvPr id="186" name="Google Shape;186;p11"/>
          <p:cNvGrpSpPr/>
          <p:nvPr/>
        </p:nvGrpSpPr>
        <p:grpSpPr>
          <a:xfrm>
            <a:off x="629143" y="2075564"/>
            <a:ext cx="4044032" cy="3851458"/>
            <a:chOff x="493" y="249939"/>
            <a:chExt cx="4044032" cy="3851458"/>
          </a:xfrm>
        </p:grpSpPr>
        <p:sp>
          <p:nvSpPr>
            <p:cNvPr id="187" name="Google Shape;187;p11"/>
            <p:cNvSpPr/>
            <p:nvPr/>
          </p:nvSpPr>
          <p:spPr>
            <a:xfrm>
              <a:off x="493" y="249939"/>
              <a:ext cx="1925729" cy="1155437"/>
            </a:xfrm>
            <a:prstGeom prst="rect">
              <a:avLst/>
            </a:prstGeom>
            <a:gradFill>
              <a:gsLst>
                <a:gs pos="0">
                  <a:srgbClr val="EC8154"/>
                </a:gs>
                <a:gs pos="50000">
                  <a:srgbClr val="F16E27"/>
                </a:gs>
                <a:gs pos="100000">
                  <a:srgbClr val="DF5D1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txBox="1"/>
            <p:nvPr/>
          </p:nvSpPr>
          <p:spPr>
            <a:xfrm>
              <a:off x="493" y="249939"/>
              <a:ext cx="1925729" cy="1155437"/>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3-Fold Cross Validation</a:t>
              </a:r>
              <a:endParaRPr/>
            </a:p>
          </p:txBody>
        </p:sp>
        <p:sp>
          <p:nvSpPr>
            <p:cNvPr id="189" name="Google Shape;189;p11"/>
            <p:cNvSpPr/>
            <p:nvPr/>
          </p:nvSpPr>
          <p:spPr>
            <a:xfrm>
              <a:off x="2118796" y="249939"/>
              <a:ext cx="1925729" cy="1155437"/>
            </a:xfrm>
            <a:prstGeom prst="rect">
              <a:avLst/>
            </a:prstGeom>
            <a:gradFill>
              <a:gsLst>
                <a:gs pos="0">
                  <a:srgbClr val="497D4C"/>
                </a:gs>
                <a:gs pos="50000">
                  <a:srgbClr val="116F1D"/>
                </a:gs>
                <a:gs pos="100000">
                  <a:srgbClr val="0B6417"/>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txBox="1"/>
            <p:nvPr/>
          </p:nvSpPr>
          <p:spPr>
            <a:xfrm>
              <a:off x="2118796" y="249939"/>
              <a:ext cx="1925729" cy="1155437"/>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Optimizer: Adam (adaptive learning rate, good with noisy data)</a:t>
              </a:r>
              <a:endParaRPr/>
            </a:p>
          </p:txBody>
        </p:sp>
        <p:sp>
          <p:nvSpPr>
            <p:cNvPr id="191" name="Google Shape;191;p11"/>
            <p:cNvSpPr/>
            <p:nvPr/>
          </p:nvSpPr>
          <p:spPr>
            <a:xfrm>
              <a:off x="493" y="1597950"/>
              <a:ext cx="1925729" cy="1155437"/>
            </a:xfrm>
            <a:prstGeom prst="rect">
              <a:avLst/>
            </a:prstGeom>
            <a:gradFill>
              <a:gsLst>
                <a:gs pos="0">
                  <a:srgbClr val="47A9DE"/>
                </a:gs>
                <a:gs pos="50000">
                  <a:srgbClr val="00A2DF"/>
                </a:gs>
                <a:gs pos="100000">
                  <a:srgbClr val="0093CC"/>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txBox="1"/>
            <p:nvPr/>
          </p:nvSpPr>
          <p:spPr>
            <a:xfrm>
              <a:off x="493" y="1597950"/>
              <a:ext cx="1925729" cy="1155437"/>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Loss: Cross-Entropy</a:t>
              </a:r>
              <a:endParaRPr/>
            </a:p>
          </p:txBody>
        </p:sp>
        <p:sp>
          <p:nvSpPr>
            <p:cNvPr id="193" name="Google Shape;193;p11"/>
            <p:cNvSpPr/>
            <p:nvPr/>
          </p:nvSpPr>
          <p:spPr>
            <a:xfrm>
              <a:off x="2118796" y="1597950"/>
              <a:ext cx="1925729" cy="1155437"/>
            </a:xfrm>
            <a:prstGeom prst="rect">
              <a:avLst/>
            </a:prstGeom>
            <a:gradFill>
              <a:gsLst>
                <a:gs pos="0">
                  <a:srgbClr val="AB4E9D"/>
                </a:gs>
                <a:gs pos="50000">
                  <a:srgbClr val="A62094"/>
                </a:gs>
                <a:gs pos="100000">
                  <a:srgbClr val="96188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txBox="1"/>
            <p:nvPr/>
          </p:nvSpPr>
          <p:spPr>
            <a:xfrm>
              <a:off x="2118796" y="1597950"/>
              <a:ext cx="1925729" cy="1155437"/>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Epochs: 15–20</a:t>
              </a:r>
              <a:endParaRPr/>
            </a:p>
          </p:txBody>
        </p:sp>
        <p:sp>
          <p:nvSpPr>
            <p:cNvPr id="195" name="Google Shape;195;p11"/>
            <p:cNvSpPr/>
            <p:nvPr/>
          </p:nvSpPr>
          <p:spPr>
            <a:xfrm>
              <a:off x="1059645" y="2945960"/>
              <a:ext cx="1925729" cy="1155437"/>
            </a:xfrm>
            <a:prstGeom prst="rect">
              <a:avLst/>
            </a:prstGeom>
            <a:gradFill>
              <a:gsLst>
                <a:gs pos="0">
                  <a:srgbClr val="65B150"/>
                </a:gs>
                <a:gs pos="50000">
                  <a:srgbClr val="4AAC24"/>
                </a:gs>
                <a:gs pos="100000">
                  <a:srgbClr val="3F9D1A"/>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txBox="1"/>
            <p:nvPr/>
          </p:nvSpPr>
          <p:spPr>
            <a:xfrm>
              <a:off x="1059645" y="2945960"/>
              <a:ext cx="1925729" cy="1155437"/>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Metrics: Validation &amp; Test Accuracy</a:t>
              </a:r>
              <a:endParaRPr/>
            </a:p>
          </p:txBody>
        </p:sp>
      </p:grpSp>
      <p:pic>
        <p:nvPicPr>
          <p:cNvPr id="197" name="Google Shape;197;p11"/>
          <p:cNvPicPr preferRelativeResize="0"/>
          <p:nvPr/>
        </p:nvPicPr>
        <p:blipFill rotWithShape="1">
          <a:blip r:embed="rId3">
            <a:alphaModFix/>
          </a:blip>
          <a:srcRect b="-2" l="40335" r="9601" t="0"/>
          <a:stretch/>
        </p:blipFill>
        <p:spPr>
          <a:xfrm>
            <a:off x="4781190" y="758514"/>
            <a:ext cx="3841678" cy="5122238"/>
          </a:xfrm>
          <a:custGeom>
            <a:rect b="b" l="l" r="r" t="t"/>
            <a:pathLst>
              <a:path extrusionOk="0" h="2663168" w="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p12"/>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4" name="Google Shape;204;p12"/>
          <p:cNvSpPr/>
          <p:nvPr/>
        </p:nvSpPr>
        <p:spPr>
          <a:xfrm>
            <a:off x="418656" y="0"/>
            <a:ext cx="8375586"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5" name="Google Shape;205;p12"/>
          <p:cNvSpPr/>
          <p:nvPr/>
        </p:nvSpPr>
        <p:spPr>
          <a:xfrm>
            <a:off x="425196" y="0"/>
            <a:ext cx="836676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p12"/>
          <p:cNvSpPr txBox="1"/>
          <p:nvPr>
            <p:ph type="title"/>
          </p:nvPr>
        </p:nvSpPr>
        <p:spPr>
          <a:xfrm>
            <a:off x="836676" y="548640"/>
            <a:ext cx="7626096"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Play"/>
              <a:buNone/>
            </a:pPr>
            <a:r>
              <a:rPr lang="en-US" sz="3500"/>
              <a:t>K-Fold</a:t>
            </a:r>
            <a:endParaRPr/>
          </a:p>
        </p:txBody>
      </p:sp>
      <p:sp>
        <p:nvSpPr>
          <p:cNvPr id="207" name="Google Shape;207;p12"/>
          <p:cNvSpPr/>
          <p:nvPr/>
        </p:nvSpPr>
        <p:spPr>
          <a:xfrm>
            <a:off x="374125" y="758952"/>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08" name="Google Shape;208;p12"/>
          <p:cNvSpPr txBox="1"/>
          <p:nvPr>
            <p:ph idx="1" type="body"/>
          </p:nvPr>
        </p:nvSpPr>
        <p:spPr>
          <a:xfrm>
            <a:off x="836676" y="2481943"/>
            <a:ext cx="7626096" cy="369502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Average Accuracy: 48.98 %</a:t>
            </a:r>
            <a:endParaRPr/>
          </a:p>
          <a:p>
            <a:pPr indent="-171450" lvl="0" marL="171450" rtl="0" algn="l">
              <a:lnSpc>
                <a:spcPct val="90000"/>
              </a:lnSpc>
              <a:spcBef>
                <a:spcPts val="750"/>
              </a:spcBef>
              <a:spcAft>
                <a:spcPts val="0"/>
              </a:spcAft>
              <a:buClr>
                <a:schemeClr val="dk1"/>
              </a:buClr>
              <a:buSzPts val="2400"/>
              <a:buChar char="•"/>
            </a:pPr>
            <a:r>
              <a:rPr lang="en-US" sz="2400"/>
              <a:t>Showed that our actual accuracy may not be as high</a:t>
            </a:r>
            <a:endParaRPr/>
          </a:p>
          <a:p>
            <a:pPr indent="-171450" lvl="0" marL="171450" rtl="0" algn="l">
              <a:lnSpc>
                <a:spcPct val="90000"/>
              </a:lnSpc>
              <a:spcBef>
                <a:spcPts val="750"/>
              </a:spcBef>
              <a:spcAft>
                <a:spcPts val="0"/>
              </a:spcAft>
              <a:buClr>
                <a:schemeClr val="dk1"/>
              </a:buClr>
              <a:buSzPts val="2400"/>
              <a:buChar char="•"/>
            </a:pPr>
            <a:r>
              <a:rPr lang="en-US" sz="2400"/>
              <a:t>The current train/test split benefits the model, but wouldn’t help it with real world data with a random split</a:t>
            </a:r>
            <a:endParaRPr/>
          </a:p>
          <a:p>
            <a:pPr indent="-171450" lvl="0" marL="171450" rtl="0" algn="l">
              <a:lnSpc>
                <a:spcPct val="90000"/>
              </a:lnSpc>
              <a:spcBef>
                <a:spcPts val="750"/>
              </a:spcBef>
              <a:spcAft>
                <a:spcPts val="0"/>
              </a:spcAft>
              <a:buClr>
                <a:schemeClr val="dk1"/>
              </a:buClr>
              <a:buSzPts val="2400"/>
              <a:buChar char="•"/>
            </a:pPr>
            <a:r>
              <a:rPr lang="en-US" sz="2400"/>
              <a:t>Something that could be addressed through future work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p13"/>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5" name="Google Shape;215;p13"/>
          <p:cNvSpPr txBox="1"/>
          <p:nvPr>
            <p:ph type="title"/>
          </p:nvPr>
        </p:nvSpPr>
        <p:spPr>
          <a:xfrm>
            <a:off x="630936" y="502920"/>
            <a:ext cx="7882128" cy="197510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700"/>
              <a:buFont typeface="Play"/>
              <a:buNone/>
            </a:pPr>
            <a:r>
              <a:rPr lang="en-US" sz="4700"/>
              <a:t>Results Summary</a:t>
            </a:r>
            <a:endParaRPr/>
          </a:p>
        </p:txBody>
      </p:sp>
      <p:sp>
        <p:nvSpPr>
          <p:cNvPr id="216" name="Google Shape;216;p13"/>
          <p:cNvSpPr/>
          <p:nvPr/>
        </p:nvSpPr>
        <p:spPr>
          <a:xfrm>
            <a:off x="632079" y="0"/>
            <a:ext cx="7879842" cy="19138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17" name="Google Shape;217;p13"/>
          <p:cNvSpPr/>
          <p:nvPr/>
        </p:nvSpPr>
        <p:spPr>
          <a:xfrm>
            <a:off x="630936" y="2894076"/>
            <a:ext cx="787984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18" name="Google Shape;218;p13"/>
          <p:cNvSpPr txBox="1"/>
          <p:nvPr>
            <p:ph idx="1" type="body"/>
          </p:nvPr>
        </p:nvSpPr>
        <p:spPr>
          <a:xfrm>
            <a:off x="630936" y="3328416"/>
            <a:ext cx="7882128" cy="271576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EmotionCNN: 58.26%</a:t>
            </a:r>
            <a:endParaRPr/>
          </a:p>
          <a:p>
            <a:pPr indent="-171450" lvl="0" marL="171450" rtl="0" algn="l">
              <a:lnSpc>
                <a:spcPct val="90000"/>
              </a:lnSpc>
              <a:spcBef>
                <a:spcPts val="750"/>
              </a:spcBef>
              <a:spcAft>
                <a:spcPts val="0"/>
              </a:spcAft>
              <a:buClr>
                <a:schemeClr val="dk1"/>
              </a:buClr>
              <a:buSzPts val="2400"/>
              <a:buChar char="•"/>
            </a:pPr>
            <a:r>
              <a:rPr lang="en-US" sz="2400"/>
              <a:t>Custom Kernels CNN: 59.72%</a:t>
            </a:r>
            <a:endParaRPr/>
          </a:p>
          <a:p>
            <a:pPr indent="-171450" lvl="0" marL="171450" rtl="0" algn="l">
              <a:lnSpc>
                <a:spcPct val="90000"/>
              </a:lnSpc>
              <a:spcBef>
                <a:spcPts val="750"/>
              </a:spcBef>
              <a:spcAft>
                <a:spcPts val="0"/>
              </a:spcAft>
              <a:buClr>
                <a:schemeClr val="dk1"/>
              </a:buClr>
              <a:buSzPts val="2400"/>
              <a:buChar char="•"/>
            </a:pPr>
            <a:r>
              <a:rPr lang="en-US" sz="2400"/>
              <a:t>SimpleResNetFER: 53.13%</a:t>
            </a:r>
            <a:endParaRPr/>
          </a:p>
          <a:p>
            <a:pPr indent="-171450" lvl="0" marL="171450" rtl="0" algn="l">
              <a:lnSpc>
                <a:spcPct val="90000"/>
              </a:lnSpc>
              <a:spcBef>
                <a:spcPts val="750"/>
              </a:spcBef>
              <a:spcAft>
                <a:spcPts val="0"/>
              </a:spcAft>
              <a:buClr>
                <a:schemeClr val="dk1"/>
              </a:buClr>
              <a:buSzPts val="2400"/>
              <a:buChar char="•"/>
            </a:pPr>
            <a:r>
              <a:rPr lang="en-US" sz="2400"/>
              <a:t>CustomFERCNN + CBAM: 62.18%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14"/>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4" name="Google Shape;224;p14"/>
          <p:cNvSpPr txBox="1"/>
          <p:nvPr>
            <p:ph type="title"/>
          </p:nvPr>
        </p:nvSpPr>
        <p:spPr>
          <a:xfrm>
            <a:off x="358485" y="1122363"/>
            <a:ext cx="3017520" cy="320413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Play"/>
              <a:buNone/>
            </a:pPr>
            <a:r>
              <a:rPr lang="en-US" sz="4200">
                <a:solidFill>
                  <a:schemeClr val="dk1"/>
                </a:solidFill>
                <a:latin typeface="Play"/>
                <a:ea typeface="Play"/>
                <a:cs typeface="Play"/>
                <a:sym typeface="Play"/>
              </a:rPr>
              <a:t>Class-wise Performance</a:t>
            </a:r>
            <a:endParaRPr/>
          </a:p>
        </p:txBody>
      </p:sp>
      <p:sp>
        <p:nvSpPr>
          <p:cNvPr id="225" name="Google Shape;225;p14"/>
          <p:cNvSpPr/>
          <p:nvPr/>
        </p:nvSpPr>
        <p:spPr>
          <a:xfrm rot="5400000">
            <a:off x="551653" y="434802"/>
            <a:ext cx="146304" cy="52806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6" name="Google Shape;226;p14"/>
          <p:cNvSpPr/>
          <p:nvPr/>
        </p:nvSpPr>
        <p:spPr>
          <a:xfrm>
            <a:off x="360771" y="4546920"/>
            <a:ext cx="301752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pic>
        <p:nvPicPr>
          <p:cNvPr descr="A graph of blue rectangular bars with text&#10;&#10;AI-generated content may be incorrect." id="227" name="Google Shape;227;p14"/>
          <p:cNvPicPr preferRelativeResize="0"/>
          <p:nvPr/>
        </p:nvPicPr>
        <p:blipFill rotWithShape="1">
          <a:blip r:embed="rId3">
            <a:alphaModFix/>
          </a:blip>
          <a:srcRect b="0" l="0" r="0" t="0"/>
          <a:stretch/>
        </p:blipFill>
        <p:spPr>
          <a:xfrm>
            <a:off x="3648456" y="1761594"/>
            <a:ext cx="5134772" cy="318355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p15"/>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4" name="Google Shape;234;p15"/>
          <p:cNvSpPr/>
          <p:nvPr/>
        </p:nvSpPr>
        <p:spPr>
          <a:xfrm>
            <a:off x="413664" y="304802"/>
            <a:ext cx="8323012" cy="1573149"/>
          </a:xfrm>
          <a:prstGeom prst="rect">
            <a:avLst/>
          </a:prstGeom>
          <a:solidFill>
            <a:schemeClr val="lt1"/>
          </a:solidFill>
          <a:ln cap="flat" cmpd="sng" w="12700">
            <a:solidFill>
              <a:srgbClr val="DEDEDE"/>
            </a:solidFill>
            <a:prstDash val="solid"/>
            <a:miter lim="800000"/>
            <a:headEnd len="sm" w="sm" type="none"/>
            <a:tailEnd len="sm" w="sm" type="none"/>
          </a:ln>
          <a:effectLst>
            <a:outerShdw blurRad="50800" rotWithShape="0" algn="tl" dir="2700000" dist="38100">
              <a:srgbClr val="C5C5C5">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p15"/>
          <p:cNvSpPr txBox="1"/>
          <p:nvPr>
            <p:ph type="title"/>
          </p:nvPr>
        </p:nvSpPr>
        <p:spPr>
          <a:xfrm>
            <a:off x="651510" y="405575"/>
            <a:ext cx="3751326"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100"/>
              <a:buFont typeface="Play"/>
              <a:buNone/>
            </a:pPr>
            <a:r>
              <a:rPr lang="en-US" sz="3100"/>
              <a:t>Model Focus</a:t>
            </a:r>
            <a:endParaRPr/>
          </a:p>
        </p:txBody>
      </p:sp>
      <p:sp>
        <p:nvSpPr>
          <p:cNvPr id="236" name="Google Shape;236;p15"/>
          <p:cNvSpPr/>
          <p:nvPr/>
        </p:nvSpPr>
        <p:spPr>
          <a:xfrm>
            <a:off x="371088" y="764424"/>
            <a:ext cx="96012" cy="65390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7" name="Google Shape;237;p15"/>
          <p:cNvSpPr/>
          <p:nvPr/>
        </p:nvSpPr>
        <p:spPr>
          <a:xfrm rot="5400000">
            <a:off x="4059127" y="1069550"/>
            <a:ext cx="1021458" cy="13716"/>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A person with a rainbow colored face&#10;&#10;AI-generated content may be incorrect." id="238" name="Google Shape;238;p15"/>
          <p:cNvPicPr preferRelativeResize="0"/>
          <p:nvPr/>
        </p:nvPicPr>
        <p:blipFill rotWithShape="1">
          <a:blip r:embed="rId3">
            <a:alphaModFix/>
          </a:blip>
          <a:srcRect b="0" l="0" r="0" t="0"/>
          <a:stretch/>
        </p:blipFill>
        <p:spPr>
          <a:xfrm>
            <a:off x="240030" y="2704069"/>
            <a:ext cx="2777490" cy="2934571"/>
          </a:xfrm>
          <a:prstGeom prst="rect">
            <a:avLst/>
          </a:prstGeom>
          <a:noFill/>
          <a:ln>
            <a:noFill/>
          </a:ln>
        </p:spPr>
      </p:pic>
      <p:pic>
        <p:nvPicPr>
          <p:cNvPr descr="A close up of a person's face&#10;&#10;AI-generated content may be incorrect." id="239" name="Google Shape;239;p15"/>
          <p:cNvPicPr preferRelativeResize="0"/>
          <p:nvPr/>
        </p:nvPicPr>
        <p:blipFill rotWithShape="1">
          <a:blip r:embed="rId4">
            <a:alphaModFix/>
          </a:blip>
          <a:srcRect b="0" l="0" r="0" t="0"/>
          <a:stretch/>
        </p:blipFill>
        <p:spPr>
          <a:xfrm>
            <a:off x="3183255" y="2699055"/>
            <a:ext cx="2777490" cy="2934571"/>
          </a:xfrm>
          <a:prstGeom prst="rect">
            <a:avLst/>
          </a:prstGeom>
          <a:noFill/>
          <a:ln>
            <a:noFill/>
          </a:ln>
        </p:spPr>
      </p:pic>
      <p:pic>
        <p:nvPicPr>
          <p:cNvPr descr="A close-up of a person's face&#10;&#10;AI-generated content may be incorrect." id="240" name="Google Shape;240;p15"/>
          <p:cNvPicPr preferRelativeResize="0"/>
          <p:nvPr/>
        </p:nvPicPr>
        <p:blipFill rotWithShape="1">
          <a:blip r:embed="rId5">
            <a:alphaModFix/>
          </a:blip>
          <a:srcRect b="0" l="0" r="0" t="0"/>
          <a:stretch/>
        </p:blipFill>
        <p:spPr>
          <a:xfrm>
            <a:off x="6124194" y="2699055"/>
            <a:ext cx="2777490" cy="293457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 name="Shape 245"/>
        <p:cNvGrpSpPr/>
        <p:nvPr/>
      </p:nvGrpSpPr>
      <p:grpSpPr>
        <a:xfrm>
          <a:off x="0" y="0"/>
          <a:ext cx="0" cy="0"/>
          <a:chOff x="0" y="0"/>
          <a:chExt cx="0" cy="0"/>
        </a:xfrm>
      </p:grpSpPr>
      <p:sp>
        <p:nvSpPr>
          <p:cNvPr id="246" name="Google Shape;246;p16"/>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47" name="Google Shape;247;p16"/>
          <p:cNvSpPr/>
          <p:nvPr/>
        </p:nvSpPr>
        <p:spPr>
          <a:xfrm>
            <a:off x="418656" y="0"/>
            <a:ext cx="8375586"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8" name="Google Shape;248;p16"/>
          <p:cNvSpPr/>
          <p:nvPr/>
        </p:nvSpPr>
        <p:spPr>
          <a:xfrm>
            <a:off x="425196" y="0"/>
            <a:ext cx="836676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9" name="Google Shape;249;p16"/>
          <p:cNvSpPr txBox="1"/>
          <p:nvPr>
            <p:ph type="title"/>
          </p:nvPr>
        </p:nvSpPr>
        <p:spPr>
          <a:xfrm>
            <a:off x="836676" y="548640"/>
            <a:ext cx="7626096"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Play"/>
              <a:buNone/>
            </a:pPr>
            <a:r>
              <a:rPr lang="en-US" sz="3500"/>
              <a:t>Impact of L2 Regularization</a:t>
            </a:r>
            <a:endParaRPr/>
          </a:p>
        </p:txBody>
      </p:sp>
      <p:sp>
        <p:nvSpPr>
          <p:cNvPr id="250" name="Google Shape;250;p16"/>
          <p:cNvSpPr/>
          <p:nvPr/>
        </p:nvSpPr>
        <p:spPr>
          <a:xfrm>
            <a:off x="374125" y="758952"/>
            <a:ext cx="96012"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51" name="Google Shape;251;p16"/>
          <p:cNvSpPr txBox="1"/>
          <p:nvPr>
            <p:ph idx="1" type="body"/>
          </p:nvPr>
        </p:nvSpPr>
        <p:spPr>
          <a:xfrm>
            <a:off x="836676" y="2481943"/>
            <a:ext cx="7626096" cy="369502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Without L2: Loss ~1.8 at epoch 20</a:t>
            </a:r>
            <a:endParaRPr/>
          </a:p>
          <a:p>
            <a:pPr indent="-171450" lvl="0" marL="171450" rtl="0" algn="l">
              <a:lnSpc>
                <a:spcPct val="90000"/>
              </a:lnSpc>
              <a:spcBef>
                <a:spcPts val="750"/>
              </a:spcBef>
              <a:spcAft>
                <a:spcPts val="0"/>
              </a:spcAft>
              <a:buClr>
                <a:schemeClr val="dk1"/>
              </a:buClr>
              <a:buSzPts val="2400"/>
              <a:buChar char="•"/>
            </a:pPr>
            <a:r>
              <a:rPr lang="en-US" sz="2400"/>
              <a:t>With L2: Loss ~1.4</a:t>
            </a:r>
            <a:endParaRPr/>
          </a:p>
          <a:p>
            <a:pPr indent="-171450" lvl="0" marL="171450" rtl="0" algn="l">
              <a:lnSpc>
                <a:spcPct val="90000"/>
              </a:lnSpc>
              <a:spcBef>
                <a:spcPts val="750"/>
              </a:spcBef>
              <a:spcAft>
                <a:spcPts val="0"/>
              </a:spcAft>
              <a:buClr>
                <a:schemeClr val="dk1"/>
              </a:buClr>
              <a:buSzPts val="2400"/>
              <a:buChar char="•"/>
            </a:pPr>
            <a:r>
              <a:rPr lang="en-US" sz="2400"/>
              <a:t>L2 reduces overfitting</a:t>
            </a:r>
            <a:endParaRPr/>
          </a:p>
          <a:p>
            <a:pPr indent="-171450" lvl="1" marL="514350" rtl="0" algn="l">
              <a:lnSpc>
                <a:spcPct val="90000"/>
              </a:lnSpc>
              <a:spcBef>
                <a:spcPts val="375"/>
              </a:spcBef>
              <a:spcAft>
                <a:spcPts val="0"/>
              </a:spcAft>
              <a:buClr>
                <a:schemeClr val="dk1"/>
              </a:buClr>
              <a:buSzPts val="2400"/>
              <a:buChar char="•"/>
            </a:pPr>
            <a:r>
              <a:rPr lang="en-US" sz="2400"/>
              <a:t>Adds penalty based on sum of weights, reduces extreme patterns and values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 name="Shape 256"/>
        <p:cNvGrpSpPr/>
        <p:nvPr/>
      </p:nvGrpSpPr>
      <p:grpSpPr>
        <a:xfrm>
          <a:off x="0" y="0"/>
          <a:ext cx="0" cy="0"/>
          <a:chOff x="0" y="0"/>
          <a:chExt cx="0" cy="0"/>
        </a:xfrm>
      </p:grpSpPr>
      <p:sp>
        <p:nvSpPr>
          <p:cNvPr id="257" name="Google Shape;257;p17"/>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58" name="Google Shape;258;p17"/>
          <p:cNvSpPr/>
          <p:nvPr/>
        </p:nvSpPr>
        <p:spPr>
          <a:xfrm>
            <a:off x="0" y="0"/>
            <a:ext cx="3719285"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 name="Google Shape;259;p17"/>
          <p:cNvSpPr/>
          <p:nvPr/>
        </p:nvSpPr>
        <p:spPr>
          <a:xfrm>
            <a:off x="0" y="0"/>
            <a:ext cx="3711665"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p17"/>
          <p:cNvSpPr txBox="1"/>
          <p:nvPr>
            <p:ph type="title"/>
          </p:nvPr>
        </p:nvSpPr>
        <p:spPr>
          <a:xfrm>
            <a:off x="358485" y="1122363"/>
            <a:ext cx="3017520" cy="320413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Play"/>
              <a:buNone/>
            </a:pPr>
            <a:r>
              <a:rPr lang="en-US" sz="4200">
                <a:solidFill>
                  <a:schemeClr val="dk1"/>
                </a:solidFill>
                <a:latin typeface="Play"/>
                <a:ea typeface="Play"/>
                <a:cs typeface="Play"/>
                <a:sym typeface="Play"/>
              </a:rPr>
              <a:t>Training Trends</a:t>
            </a:r>
            <a:endParaRPr/>
          </a:p>
        </p:txBody>
      </p:sp>
      <p:sp>
        <p:nvSpPr>
          <p:cNvPr id="261" name="Google Shape;261;p17"/>
          <p:cNvSpPr/>
          <p:nvPr/>
        </p:nvSpPr>
        <p:spPr>
          <a:xfrm rot="5400000">
            <a:off x="551653" y="434802"/>
            <a:ext cx="146304" cy="52806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62" name="Google Shape;262;p17"/>
          <p:cNvSpPr/>
          <p:nvPr/>
        </p:nvSpPr>
        <p:spPr>
          <a:xfrm>
            <a:off x="360771" y="4546920"/>
            <a:ext cx="301752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A graph of a line graph&#10;&#10;AI-generated content may be incorrect." id="263" name="Google Shape;263;p17"/>
          <p:cNvPicPr preferRelativeResize="0"/>
          <p:nvPr>
            <p:ph idx="1" type="body"/>
          </p:nvPr>
        </p:nvPicPr>
        <p:blipFill rotWithShape="1">
          <a:blip r:embed="rId3">
            <a:alphaModFix/>
          </a:blip>
          <a:srcRect b="0" l="0" r="0" t="0"/>
          <a:stretch/>
        </p:blipFill>
        <p:spPr>
          <a:xfrm>
            <a:off x="4060767" y="1460764"/>
            <a:ext cx="4806627" cy="378521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sp>
        <p:nvSpPr>
          <p:cNvPr id="269" name="Google Shape;269;p18"/>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70" name="Google Shape;270;p18"/>
          <p:cNvSpPr txBox="1"/>
          <p:nvPr>
            <p:ph type="title"/>
          </p:nvPr>
        </p:nvSpPr>
        <p:spPr>
          <a:xfrm>
            <a:off x="630936" y="502920"/>
            <a:ext cx="7882128" cy="197510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700"/>
              <a:buFont typeface="Play"/>
              <a:buNone/>
            </a:pPr>
            <a:r>
              <a:rPr lang="en-US" sz="4700"/>
              <a:t>Key Challenges</a:t>
            </a:r>
            <a:endParaRPr/>
          </a:p>
        </p:txBody>
      </p:sp>
      <p:sp>
        <p:nvSpPr>
          <p:cNvPr id="271" name="Google Shape;271;p18"/>
          <p:cNvSpPr/>
          <p:nvPr/>
        </p:nvSpPr>
        <p:spPr>
          <a:xfrm>
            <a:off x="632079" y="0"/>
            <a:ext cx="7879842" cy="19138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72" name="Google Shape;272;p18"/>
          <p:cNvSpPr/>
          <p:nvPr/>
        </p:nvSpPr>
        <p:spPr>
          <a:xfrm>
            <a:off x="630936" y="2894076"/>
            <a:ext cx="787984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73" name="Google Shape;273;p18"/>
          <p:cNvSpPr txBox="1"/>
          <p:nvPr>
            <p:ph idx="1" type="body"/>
          </p:nvPr>
        </p:nvSpPr>
        <p:spPr>
          <a:xfrm>
            <a:off x="630936" y="3328416"/>
            <a:ext cx="7882128" cy="271576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Class imbalance: few fear/disgust samples</a:t>
            </a:r>
            <a:endParaRPr/>
          </a:p>
          <a:p>
            <a:pPr indent="-171450" lvl="0" marL="171450" rtl="0" algn="l">
              <a:lnSpc>
                <a:spcPct val="90000"/>
              </a:lnSpc>
              <a:spcBef>
                <a:spcPts val="750"/>
              </a:spcBef>
              <a:spcAft>
                <a:spcPts val="0"/>
              </a:spcAft>
              <a:buClr>
                <a:schemeClr val="dk1"/>
              </a:buClr>
              <a:buSzPts val="2400"/>
              <a:buChar char="•"/>
            </a:pPr>
            <a:r>
              <a:rPr lang="en-US" sz="2400"/>
              <a:t>Emotion localization varies by expression</a:t>
            </a:r>
            <a:endParaRPr/>
          </a:p>
          <a:p>
            <a:pPr indent="-171450" lvl="0" marL="171450" rtl="0" algn="l">
              <a:lnSpc>
                <a:spcPct val="90000"/>
              </a:lnSpc>
              <a:spcBef>
                <a:spcPts val="750"/>
              </a:spcBef>
              <a:spcAft>
                <a:spcPts val="0"/>
              </a:spcAft>
              <a:buClr>
                <a:schemeClr val="dk1"/>
              </a:buClr>
              <a:buSzPts val="2400"/>
              <a:buChar char="•"/>
            </a:pPr>
            <a:r>
              <a:rPr lang="en-US" sz="2400"/>
              <a:t>Overlapping features complicate classification</a:t>
            </a:r>
            <a:endParaRPr/>
          </a:p>
          <a:p>
            <a:pPr indent="-171450" lvl="0" marL="171450" rtl="0" algn="l">
              <a:lnSpc>
                <a:spcPct val="90000"/>
              </a:lnSpc>
              <a:spcBef>
                <a:spcPts val="750"/>
              </a:spcBef>
              <a:spcAft>
                <a:spcPts val="0"/>
              </a:spcAft>
              <a:buClr>
                <a:schemeClr val="dk1"/>
              </a:buClr>
              <a:buSzPts val="2400"/>
              <a:buChar char="•"/>
            </a:pPr>
            <a:r>
              <a:rPr lang="en-US" sz="2400"/>
              <a:t>Overfitting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 name="Shape 278"/>
        <p:cNvGrpSpPr/>
        <p:nvPr/>
      </p:nvGrpSpPr>
      <p:grpSpPr>
        <a:xfrm>
          <a:off x="0" y="0"/>
          <a:ext cx="0" cy="0"/>
          <a:chOff x="0" y="0"/>
          <a:chExt cx="0" cy="0"/>
        </a:xfrm>
      </p:grpSpPr>
      <p:sp>
        <p:nvSpPr>
          <p:cNvPr id="279" name="Google Shape;279;p19"/>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0" name="Google Shape;280;p19"/>
          <p:cNvSpPr txBox="1"/>
          <p:nvPr>
            <p:ph type="title"/>
          </p:nvPr>
        </p:nvSpPr>
        <p:spPr>
          <a:xfrm>
            <a:off x="630936" y="426720"/>
            <a:ext cx="7879842" cy="19191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Play"/>
              <a:buNone/>
            </a:pPr>
            <a:r>
              <a:rPr lang="en-US" sz="5200"/>
              <a:t>Reflection and Future Work</a:t>
            </a:r>
            <a:endParaRPr/>
          </a:p>
        </p:txBody>
      </p:sp>
      <p:sp>
        <p:nvSpPr>
          <p:cNvPr id="281" name="Google Shape;281;p19"/>
          <p:cNvSpPr/>
          <p:nvPr/>
        </p:nvSpPr>
        <p:spPr>
          <a:xfrm>
            <a:off x="649464" y="2899927"/>
            <a:ext cx="7838694"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2" name="Google Shape;282;p19"/>
          <p:cNvSpPr/>
          <p:nvPr/>
        </p:nvSpPr>
        <p:spPr>
          <a:xfrm flipH="1" rot="10800000">
            <a:off x="630936" y="2776031"/>
            <a:ext cx="1405092" cy="1371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3" name="Google Shape;283;p19"/>
          <p:cNvSpPr txBox="1"/>
          <p:nvPr>
            <p:ph idx="1" type="body"/>
          </p:nvPr>
        </p:nvSpPr>
        <p:spPr>
          <a:xfrm>
            <a:off x="630936" y="3337269"/>
            <a:ext cx="7882128" cy="2905686"/>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Video emotion – computer vision</a:t>
            </a:r>
            <a:endParaRPr/>
          </a:p>
          <a:p>
            <a:pPr indent="-171450" lvl="0" marL="171450" rtl="0" algn="l">
              <a:lnSpc>
                <a:spcPct val="90000"/>
              </a:lnSpc>
              <a:spcBef>
                <a:spcPts val="750"/>
              </a:spcBef>
              <a:spcAft>
                <a:spcPts val="0"/>
              </a:spcAft>
              <a:buClr>
                <a:schemeClr val="dk1"/>
              </a:buClr>
              <a:buSzPts val="2400"/>
              <a:buChar char="•"/>
            </a:pPr>
            <a:r>
              <a:rPr lang="en-US" sz="2400"/>
              <a:t>Transformers for image classification</a:t>
            </a:r>
            <a:endParaRPr/>
          </a:p>
          <a:p>
            <a:pPr indent="-171450" lvl="0" marL="171450" rtl="0" algn="l">
              <a:lnSpc>
                <a:spcPct val="90000"/>
              </a:lnSpc>
              <a:spcBef>
                <a:spcPts val="750"/>
              </a:spcBef>
              <a:spcAft>
                <a:spcPts val="0"/>
              </a:spcAft>
              <a:buClr>
                <a:schemeClr val="dk1"/>
              </a:buClr>
              <a:buSzPts val="2400"/>
              <a:buChar char="•"/>
            </a:pPr>
            <a:r>
              <a:rPr lang="en-US" sz="2400"/>
              <a:t>Multi-task learning – increased predictors like age or gender</a:t>
            </a:r>
            <a:endParaRPr/>
          </a:p>
          <a:p>
            <a:pPr indent="-171450" lvl="0" marL="171450" rtl="0" algn="l">
              <a:lnSpc>
                <a:spcPct val="90000"/>
              </a:lnSpc>
              <a:spcBef>
                <a:spcPts val="750"/>
              </a:spcBef>
              <a:spcAft>
                <a:spcPts val="0"/>
              </a:spcAft>
              <a:buClr>
                <a:schemeClr val="dk1"/>
              </a:buClr>
              <a:buSzPts val="2400"/>
              <a:buChar char="•"/>
            </a:pPr>
            <a:r>
              <a:rPr lang="en-US" sz="2400"/>
              <a:t>Use more dropout layers with the existing model to reduce overfitting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7" name="Shape 287"/>
        <p:cNvGrpSpPr/>
        <p:nvPr/>
      </p:nvGrpSpPr>
      <p:grpSpPr>
        <a:xfrm>
          <a:off x="0" y="0"/>
          <a:ext cx="0" cy="0"/>
          <a:chOff x="0" y="0"/>
          <a:chExt cx="0" cy="0"/>
        </a:xfrm>
      </p:grpSpPr>
      <p:sp>
        <p:nvSpPr>
          <p:cNvPr id="288" name="Google Shape;288;p20"/>
          <p:cNvSpPr/>
          <p:nvPr/>
        </p:nvSpPr>
        <p:spPr>
          <a:xfrm>
            <a:off x="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9" name="Google Shape;289;p20"/>
          <p:cNvSpPr/>
          <p:nvPr/>
        </p:nvSpPr>
        <p:spPr>
          <a:xfrm>
            <a:off x="835818" y="0"/>
            <a:ext cx="7472363"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cap="flat" cmpd="sng" w="9525">
            <a:solidFill>
              <a:srgbClr val="EFEFEF"/>
            </a:solidFill>
            <a:prstDash val="solid"/>
            <a:miter lim="800000"/>
            <a:headEnd len="sm" w="sm" type="none"/>
            <a:tailEnd len="sm" w="sm" type="none"/>
          </a:ln>
          <a:effectLst>
            <a:outerShdw blurRad="139700" sx="102000" rotWithShape="0" algn="ctr" sy="102000">
              <a:srgbClr val="D8D8D8">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0" name="Google Shape;290;p20"/>
          <p:cNvSpPr/>
          <p:nvPr/>
        </p:nvSpPr>
        <p:spPr>
          <a:xfrm>
            <a:off x="841248" y="0"/>
            <a:ext cx="7461504"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p20"/>
          <p:cNvSpPr txBox="1"/>
          <p:nvPr>
            <p:ph type="title"/>
          </p:nvPr>
        </p:nvSpPr>
        <p:spPr>
          <a:xfrm>
            <a:off x="1143002" y="1999615"/>
            <a:ext cx="6858000" cy="27640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300"/>
              <a:buFont typeface="Play"/>
              <a:buNone/>
            </a:pPr>
            <a:r>
              <a:rPr lang="en-US" sz="6300">
                <a:solidFill>
                  <a:schemeClr val="dk1"/>
                </a:solidFill>
                <a:latin typeface="Play"/>
                <a:ea typeface="Play"/>
                <a:cs typeface="Play"/>
                <a:sym typeface="Play"/>
              </a:rPr>
              <a:t>Q&amp;A</a:t>
            </a:r>
            <a:endParaRPr/>
          </a:p>
        </p:txBody>
      </p:sp>
      <p:sp>
        <p:nvSpPr>
          <p:cNvPr id="292" name="Google Shape;292;p20"/>
          <p:cNvSpPr/>
          <p:nvPr/>
        </p:nvSpPr>
        <p:spPr>
          <a:xfrm>
            <a:off x="2788920" y="5524786"/>
            <a:ext cx="3566160" cy="27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91"/>
                                        </p:tgtEl>
                                        <p:attrNameLst>
                                          <p:attrName>style.visibility</p:attrName>
                                        </p:attrNameLst>
                                      </p:cBhvr>
                                      <p:to>
                                        <p:strVal val="visible"/>
                                      </p:to>
                                    </p:set>
                                    <p:animEffect filter="fade" transition="in">
                                      <p:cBhvr>
                                        <p:cTn dur="4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Alexander Slotter</dc:creator>
</cp:coreProperties>
</file>